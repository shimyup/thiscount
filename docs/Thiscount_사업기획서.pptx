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1371600"/>
            <a:ext cx="457200" cy="45720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371600"/>
            <a:ext cx="457200" cy="4572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371600"/>
            <a:ext cx="457200" cy="457200"/>
          </a:xfrm>
          <a:prstGeom prst="ellipse">
            <a:avLst/>
          </a:prstGeom>
          <a:solidFill>
            <a:srgbClr val="5BA4F6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Thiscount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 혜택을 '줍는' 위치기반 쿠폰 플랫폼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up coupons and discounts around you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사업기획서  ·  2026  ·  글로벌 14개 언어  ·  iOS TestFlight 운영 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혜택은 넘치는데, 닿지 않는다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329184" cy="329184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29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전단지·문자 광고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12080" y="201168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도달률이 낮고 받는 즉시 버려진다. 비용 대비 전환 추적이 사실상 불가능.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840480"/>
            <a:ext cx="329184" cy="329184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538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쿠폰 앱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12080" y="352044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'검색'해야 보인다. 우연한 발견·재방문 동기가 약하다.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5349240"/>
            <a:ext cx="329184" cy="329184"/>
          </a:xfrm>
          <a:prstGeom prst="ellipse">
            <a:avLst/>
          </a:prstGeom>
          <a:solidFill>
            <a:srgbClr val="5BA4F6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5047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ROI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12080" y="502920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광고비를 써도 누가 보고 실제 방문·사용했는지 모른다 = 깜깜이 집행.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지도에서 '줍는' 쿠폰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아니라 발견. 위치 기반으로 주변 혜택이 지도 위에 떨어지고, 줍는 행위 자체가 재미가 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47288" cy="3291840"/>
          </a:xfrm>
          <a:prstGeom prst="roundRect">
            <a:avLst>
              <a:gd name="adj" fmla="val 333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834640"/>
            <a:ext cx="457200" cy="45720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발견의 재미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 카테고리별 쿠폰 핀. 가까이 가면 줍는 게임 같은 경험.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1688" y="2468880"/>
            <a:ext cx="3447288" cy="3291840"/>
          </a:xfrm>
          <a:prstGeom prst="roundRect">
            <a:avLst>
              <a:gd name="adj" fmla="val 333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2834640"/>
            <a:ext cx="457200" cy="4572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 도달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27448" y="4069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반경에 들어온 사용자에게 자동 드롭 — 전단지보다 정확.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3296" y="2468880"/>
            <a:ext cx="3447288" cy="3291840"/>
          </a:xfrm>
          <a:prstGeom prst="roundRect">
            <a:avLst>
              <a:gd name="adj" fmla="val 333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94776" y="2834640"/>
            <a:ext cx="457200" cy="45720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게임화 리텐션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49056" y="4069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레어 드롭·수집·성장으로 매일 열게 만드는 습관 루프.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줍기 → 발송 → 사용, 3단계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1760"/>
            <a:ext cx="777240" cy="77724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줍기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주변 지도에서 쿠폰·편지를 발견하고 픽업한다.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1688" y="228600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651760"/>
            <a:ext cx="777240" cy="7772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2651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27448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27448" y="42062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매장이 캠페인을 보내거나 매장 반경 '자동발송 zone'을 설정한다.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83296" y="228600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651760"/>
            <a:ext cx="777240" cy="77724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651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49056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49056" y="42062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매장에서 코드·QR로 리딤. 발송→픽업→사용이 모두 측정된다.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핵심 화면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47288" cy="3474720"/>
          </a:xfrm>
          <a:prstGeom prst="roundRect">
            <a:avLst>
              <a:gd name="adj" fmla="val 318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3447288" cy="146304"/>
          </a:xfrm>
          <a:prstGeom prst="roundRect">
            <a:avLst>
              <a:gd name="adj" fmla="val 31250"/>
            </a:avLst>
          </a:prstGeom>
          <a:solidFill>
            <a:srgbClr val="5BA4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A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(탐험)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우편함 마커(할인·교환·브랜드), 레어 드롭 글로우, 근처 알림.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1688" y="2194560"/>
            <a:ext cx="3447288" cy="3474720"/>
          </a:xfrm>
          <a:prstGeom prst="roundRect">
            <a:avLst>
              <a:gd name="adj" fmla="val 318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2194560"/>
            <a:ext cx="3447288" cy="146304"/>
          </a:xfrm>
          <a:prstGeom prst="roundRect">
            <a:avLst>
              <a:gd name="adj" fmla="val 31250"/>
            </a:avLst>
          </a:prstGeom>
          <a:solidFill>
            <a:srgbClr val="FF4D6D"/>
          </a:solidFill>
          <a:ln/>
        </p:spPr>
      </p:sp>
      <p:sp>
        <p:nvSpPr>
          <p:cNvPr id="10" name="Text 8"/>
          <p:cNvSpPr/>
          <p:nvPr/>
        </p:nvSpPr>
        <p:spPr>
          <a:xfrm>
            <a:off x="4727448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받은함 (지갑)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27448" y="32004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티켓형 카드 — 혜택값·절취선·'사용하기'. 사용/만료 상태 일목요연.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83296" y="2194560"/>
            <a:ext cx="3447288" cy="3474720"/>
          </a:xfrm>
          <a:prstGeom prst="roundRect">
            <a:avLst>
              <a:gd name="adj" fmla="val 318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2194560"/>
            <a:ext cx="3447288" cy="146304"/>
          </a:xfrm>
          <a:prstGeom prst="roundRect">
            <a:avLst>
              <a:gd name="adj" fmla="val 31250"/>
            </a:avLst>
          </a:prstGeom>
          <a:solidFill>
            <a:srgbClr val="B8FF5C"/>
          </a:solidFill>
          <a:ln/>
        </p:spPr>
      </p:sp>
      <p:sp>
        <p:nvSpPr>
          <p:cNvPr id="14" name="Text 12"/>
          <p:cNvSpPr/>
          <p:nvPr/>
        </p:nvSpPr>
        <p:spPr>
          <a:xfrm>
            <a:off x="8449056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(사장님)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49056" y="32004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혜택→대상→확인 3단계 마법사 + 자동발송 zone + AI 글 생성.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열게 만드는 리텐션 엔진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14600"/>
            <a:ext cx="384048" cy="384048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레어 드롭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880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일반/레어/에픽 등급. 희귀 쿠폰의 짜릿함이 탐색을 유도.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514600"/>
            <a:ext cx="384048" cy="38404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성장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880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활동으로 자라는 나만의 타워 — 장기 목표·정체성.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434840"/>
            <a:ext cx="384048" cy="38404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단골 스탬프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800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국가·매장별 스탬프 수집. 완성 시 보상 쿠폰.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434840"/>
            <a:ext cx="384048" cy="38404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 · 레벨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4800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줍기·발송·이동거리로 XP 적립, 레벨·칭호 상승.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MERCHANTS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소상공인을 위한 측정 가능한 광고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14600"/>
            <a:ext cx="384048" cy="38404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자동발송 zone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880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반경을 설정하면 들어온 손님에게 자동으로 쿠폰 드롭.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514600"/>
            <a:ext cx="384048" cy="384048"/>
          </a:xfrm>
          <a:prstGeom prst="ellipse">
            <a:avLst/>
          </a:prstGeom>
          <a:solidFill>
            <a:srgbClr val="5BA4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퍼널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880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→ 픽업 → 노출 → 사용까지 단계별 전환율을 한 화면에.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434840"/>
            <a:ext cx="384048" cy="384048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쿠폰 생성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800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업종·목표만 입력하면 카피·혜택 초안을 AI가 자동 작성.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434840"/>
            <a:ext cx="384048" cy="38404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POS 코드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4800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캠페인당 코드 1개로 매장에서 즉시 리딤·정산.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AI를 탑재한 쿠폰 생성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0" cy="3749040"/>
          </a:xfrm>
          <a:prstGeom prst="roundRect">
            <a:avLst>
              <a:gd name="adj" fmla="val 2927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31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7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generateCoupon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5669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서버(Cloud Function)에서 Google Gemini 2.5 Flash 호출</a:t>
            </a:r>
            <a:endParaRPr lang="en-US" sz="15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업종·설명 입력 → 카피 + 혜택 초안 자동 생성</a:t>
            </a:r>
            <a:endParaRPr lang="en-US" sz="15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토큰 검증 + per-uid rate limit + 키 서버 보관(클라 비노출)</a:t>
            </a:r>
            <a:endParaRPr lang="en-US" sz="15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엔드투엔드 배포·검증 완료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223760" y="201168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1F24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4380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레버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43800" y="2926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바우처 / TIPS 등 R&amp;D·창업 지원 연계 포인트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휴리스틱 추천 → 생성형 AI로 진화하는 로드맵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축적 시 추천·타게팅 고도화 여지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+ 향후 거래 수수료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줍기 반경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수집·지도 탐험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210312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1F24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2103120"/>
            <a:ext cx="3447288" cy="3566160"/>
          </a:xfrm>
          <a:prstGeom prst="roundRect">
            <a:avLst>
              <a:gd name="adj" fmla="val 3183"/>
            </a:avLst>
          </a:prstGeom>
          <a:ln w="25400">
            <a:solidFill>
              <a:srgbClr val="FFD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27448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₩4,900 / 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27448" y="3749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반경 2km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특급 발송 · 무제한 수집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답장·DM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210312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9056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49056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₩99,000 / 월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49056" y="3749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발송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자동발송 zone · AI 생성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대시보드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향후: 매장 거래 수수료 · 프로모션 부스트 · 데이터/광고 인사이트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 로컬 커머스 시장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A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O2O·로컬 광고 시장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〈예시 — 실데이터 교체〉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19456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27448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디지털 쿠폰/판촉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〈예시 — 실데이터 교체〉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219456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49056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타깃 지역·업종 도달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〈예시 — 실데이터 교체〉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시장 규모 수치는 실제 리서치(통계청·업계 리포트)로 교체하세요.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우위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1F24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40233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2011680"/>
            <a:ext cx="24688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Thiscount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쿠폰앱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0"/>
            <a:ext cx="19202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광고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658368"/>
          </a:xfrm>
          <a:prstGeom prst="rect">
            <a:avLst/>
          </a:prstGeom>
          <a:solidFill>
            <a:srgbClr val="171B2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70048"/>
            <a:ext cx="40233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발견성(우연한 픽업)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670048"/>
            <a:ext cx="24688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670048"/>
            <a:ext cx="21945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0" y="2670048"/>
            <a:ext cx="19202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40233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게임화·리텐션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328416"/>
            <a:ext cx="24688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3328416"/>
            <a:ext cx="21945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0" y="3328416"/>
            <a:ext cx="19202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86784"/>
            <a:ext cx="10881360" cy="658368"/>
          </a:xfrm>
          <a:prstGeom prst="rect">
            <a:avLst/>
          </a:prstGeom>
          <a:solidFill>
            <a:srgbClr val="171B21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86784"/>
            <a:ext cx="40233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쿠폰 생성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3986784"/>
            <a:ext cx="21945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0" y="3986784"/>
            <a:ext cx="19202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645152"/>
            <a:ext cx="40233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발송→사용 ROI 측정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645152"/>
            <a:ext cx="24688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구간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4645152"/>
            <a:ext cx="21945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0" y="4645152"/>
            <a:ext cx="19202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불투명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10881360" cy="658368"/>
          </a:xfrm>
          <a:prstGeom prst="rect">
            <a:avLst/>
          </a:prstGeom>
          <a:solidFill>
            <a:srgbClr val="171B21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40233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14개 언어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5303520"/>
            <a:ext cx="24688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5303520"/>
            <a:ext cx="219456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0" y="5303520"/>
            <a:ext cx="19202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기술·보안·컴플라이언스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329184" cy="329184"/>
          </a:xfrm>
          <a:prstGeom prst="ellipse">
            <a:avLst/>
          </a:prstGeom>
          <a:solidFill>
            <a:srgbClr val="5BA4F6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116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20116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Flutter(iOS/Android) · Firebase · RevenueCat · Cloud Functions · Gemini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291840"/>
            <a:ext cx="329184" cy="329184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0175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30175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14개 언어 현지화 — 첫인상 동선까지 다국어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297680"/>
            <a:ext cx="329184" cy="329184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023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0233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보안저장 · 로그인/OTP brute-force 방어 · 익명화·좌표 마스킹 · 출시 전 보안 감사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71B2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5303520"/>
            <a:ext cx="329184" cy="329184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5029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컴플라이언스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502920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정보통신망법(마케팅 동의) · 위치정보법 · GDPR 동의/철회 — 다국어 동의 UI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→ 고도화 → 확장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628900"/>
            <a:ext cx="22402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F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TestFlight 운영. 출시 게이트 마무리(문서 호스팅·IAP·신고).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502920" cy="50292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9" name="Shape 7"/>
          <p:cNvSpPr/>
          <p:nvPr/>
        </p:nvSpPr>
        <p:spPr>
          <a:xfrm>
            <a:off x="3977640" y="2628900"/>
            <a:ext cx="22402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42900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3566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엔티tlement 서버화 · 결제 webhook · 리딤코드 보안 강화.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502920" cy="502920"/>
          </a:xfrm>
          <a:prstGeom prst="ellipse">
            <a:avLst/>
          </a:prstGeom>
          <a:solidFill>
            <a:srgbClr val="5BA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0" y="2628900"/>
            <a:ext cx="22402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21792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A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566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인증 마이그레이션(IDOR 근본 해소) · 권한 모델 강화.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2377440"/>
            <a:ext cx="502920" cy="50292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06840" y="356616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출시 · 다지역 글로벌 · 추천/타게팅 AI 고도화.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1280160"/>
            <a:ext cx="411480" cy="41148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280160"/>
            <a:ext cx="411480" cy="41148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280160"/>
            <a:ext cx="411480" cy="411480"/>
          </a:xfrm>
          <a:prstGeom prst="ellipse">
            <a:avLst/>
          </a:prstGeom>
          <a:solidFill>
            <a:srgbClr val="5BA4F6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'줍는' 시장을 만듭니다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· 지원사업 · 파트너십을 제안합니다.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 〈입력 필요〉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 사용 계획 〈입력 필요〉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thiscount.io 〈입력 필요〉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Thiscount 사업기획서</dc:title>
  <dc:subject>PptxGenJS Presentation</dc:subject>
  <dc:creator>Thiscount</dc:creator>
  <cp:lastModifiedBy>Thiscount</cp:lastModifiedBy>
  <cp:revision>1</cp:revision>
  <dcterms:created xsi:type="dcterms:W3CDTF">2026-06-20T02:48:41Z</dcterms:created>
  <dcterms:modified xsi:type="dcterms:W3CDTF">2026-06-20T02:48:41Z</dcterms:modified>
</cp:coreProperties>
</file>