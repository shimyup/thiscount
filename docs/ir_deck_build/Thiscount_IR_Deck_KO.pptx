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6400800" cy="6400800"/>
          </a:xfrm>
          <a:prstGeom prst="ellipse">
            <a:avLst/>
          </a:prstGeom>
          <a:solidFill>
            <a:srgbClr val="B8FF5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182880"/>
            <a:ext cx="3840480" cy="3840480"/>
          </a:xfrm>
          <a:prstGeom prst="ellipse">
            <a:avLst/>
          </a:prstGeom>
          <a:solidFill>
            <a:srgbClr val="B8FF5C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0" y="1371600"/>
            <a:ext cx="3291840" cy="3291840"/>
          </a:xfrm>
          <a:prstGeom prst="ellipse">
            <a:avLst/>
          </a:prstGeom>
          <a:solidFill>
            <a:srgbClr val="0B0B0D">
              <a:alpha val="0"/>
            </a:srgbClr>
          </a:solidFill>
          <a:ln w="19050">
            <a:solidFill>
              <a:srgbClr val="B8FF5C">
                <a:alpha val="6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2194560"/>
            <a:ext cx="1645920" cy="1645920"/>
          </a:xfrm>
          <a:prstGeom prst="ellipse">
            <a:avLst/>
          </a:prstGeom>
          <a:solidFill>
            <a:srgbClr val="0B0B0D">
              <a:alpha val="0"/>
            </a:srgbClr>
          </a:solidFill>
          <a:ln w="15875">
            <a:solidFill>
              <a:srgbClr val="B8FF5C">
                <a:alpha val="8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331720"/>
            <a:ext cx="640080" cy="640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82296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777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LOCATION-BASED DISCOVERY COUPON PLATFORM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182880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8400" dirty="0"/>
          </a:p>
        </p:txBody>
      </p:sp>
      <p:sp>
        <p:nvSpPr>
          <p:cNvPr id="10" name="Text 7"/>
          <p:cNvSpPr/>
          <p:nvPr/>
        </p:nvSpPr>
        <p:spPr>
          <a:xfrm>
            <a:off x="640080" y="31546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걷다 보면, </a:t>
            </a:r>
            <a:pPr algn="l" indent="0" marL="0">
              <a:buNone/>
            </a:pPr>
            <a:r>
              <a:rPr lang="en-US" sz="30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혜택이 떨어진다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4008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위치기반 발견형 쿠폰 플랫폼  ·  글로벌 14개 언어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5074920"/>
            <a:ext cx="4754880" cy="0"/>
          </a:xfrm>
          <a:prstGeom prst="line">
            <a:avLst/>
          </a:prstGeom>
          <a:noFill/>
          <a:ln w="12700">
            <a:solidFill>
              <a:srgbClr val="2E2E3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[회사명]</a:t>
            </a:r>
            <a:pPr algn="l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·   [발표자 / 직함]   ·   [날짜]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997135" y="5212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IR PITCH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WHAT IS THISCOUNT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포켓몬 고처럼 </a:t>
            </a:r>
            <a:pPr algn="l" indent="0" marL="0">
              <a:buNone/>
            </a:pPr>
            <a:r>
              <a:rPr lang="en-US" sz="44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줍는 쿠폰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441448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2267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걸어가서 줍는다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463040" y="263347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주변 200m 안에 떨어진 브랜드 혜택(할인권·교환권)을 지도에서 발견해 직접 픽업합니다.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33756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93008"/>
            <a:ext cx="402336" cy="402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33192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매장에서 바로 쓴다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368503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주운 쿠폰은 매장 코드로 즉시 사용 — 발견이 곧 오프라인 방문으로 이어집니다.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02920" y="438912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544568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63040" y="4370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브랜드는 자동으로 뿌린다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1463040" y="473659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매장 반경에 쿠폰을 자동 발송(zone)하고, 실시간으로 방문 ROI를 측정합니다.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7772400" y="21031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772400" y="2423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감성 × 실용</a:t>
            </a:r>
            <a:endParaRPr lang="en-US" sz="2000" dirty="0"/>
          </a:p>
        </p:txBody>
      </p:sp>
      <p:sp>
        <p:nvSpPr>
          <p:cNvPr id="19" name="Shape 14"/>
          <p:cNvSpPr/>
          <p:nvPr/>
        </p:nvSpPr>
        <p:spPr>
          <a:xfrm>
            <a:off x="8732520" y="3063240"/>
            <a:ext cx="2011680" cy="2011680"/>
          </a:xfrm>
          <a:prstGeom prst="ellipse">
            <a:avLst/>
          </a:prstGeom>
          <a:solidFill>
            <a:srgbClr val="0B0B0D"/>
          </a:solidFill>
          <a:ln w="19050">
            <a:solidFill>
              <a:srgbClr val="B8FF5C">
                <a:alpha val="70000"/>
              </a:srgbClr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370332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772400" y="50749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발견의 재미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 즉시 사용 가능한 할인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쿠폰은 넘치는데, </a:t>
            </a:r>
            <a:pPr algn="l" indent="0" marL="0">
              <a:buNone/>
            </a:pPr>
            <a:r>
              <a:rPr lang="en-US" sz="3800" b="1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아무도 안 줍는다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331720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51460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202028"/>
          </a:solidFill>
          <a:ln w="12700">
            <a:solidFill>
              <a:srgbClr val="2E2E3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62432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4414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소비자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206240" y="244144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검색·필터·스팸 푸시 피로. 발견의 재미가 없어 사용률이 낮다.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3410712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59359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202028"/>
          </a:solidFill>
          <a:ln w="12700">
            <a:solidFill>
              <a:srgbClr val="2E2E3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03320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520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매장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206240" y="35204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전단지·배달앱 광고는 누가 봤는지·왔는지 측정 불가. 비싸고 일회성.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02920" y="4489704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7258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202028"/>
          </a:solidFill>
          <a:ln w="12700">
            <a:solidFill>
              <a:srgbClr val="2E2E3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782312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459943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관광 / 로컬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4206240" y="4599432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외국인·신규 방문객이 '내 주변 실시간 혜택'을 찾을 채널이 없다.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502920" y="580644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“노출”은 팔지만 </a:t>
            </a:r>
            <a:pPr algn="ctr" indent="0" marL="0">
              <a:buNone/>
            </a:pPr>
            <a:r>
              <a:rPr lang="en-US" sz="1500" b="1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“방문”은 못 파는</a:t>
            </a:r>
            <a:pPr algn="ctr" indent="0" marL="0">
              <a:buNone/>
            </a:pPr>
            <a:r>
              <a:rPr lang="en-US" sz="15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광고 시장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 + 게임 = </a:t>
            </a:r>
            <a:pPr algn="l" indent="0" marL="0">
              <a:buNone/>
            </a:pPr>
            <a:r>
              <a:rPr lang="en-US" sz="38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매장 방문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331720"/>
            <a:ext cx="3611880" cy="3200400"/>
          </a:xfrm>
          <a:prstGeom prst="roundRect">
            <a:avLst>
              <a:gd name="adj" fmla="val 3429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331720"/>
            <a:ext cx="3611880" cy="91440"/>
          </a:xfrm>
          <a:prstGeom prst="rect">
            <a:avLst/>
          </a:prstGeom>
          <a:solidFill>
            <a:srgbClr val="B8FF5C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743200"/>
            <a:ext cx="868680" cy="868680"/>
          </a:xfrm>
          <a:prstGeom prst="ellipse">
            <a:avLst/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9718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37947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줍는 재미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2960" y="43434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지도 위 발견 · 희귀도(레어/에픽) · 레벨 · 연속출석으로 리텐션 확보.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2331720"/>
            <a:ext cx="3611880" cy="3200400"/>
          </a:xfrm>
          <a:prstGeom prst="roundRect">
            <a:avLst>
              <a:gd name="adj" fmla="val 3429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43400" y="2331720"/>
            <a:ext cx="3611880" cy="91440"/>
          </a:xfrm>
          <a:prstGeom prst="rect">
            <a:avLst/>
          </a:prstGeom>
          <a:solidFill>
            <a:srgbClr val="FFD60A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2743200"/>
            <a:ext cx="868680" cy="868680"/>
          </a:xfrm>
          <a:prstGeom prst="ellipse">
            <a:avLst/>
          </a:prstGeom>
          <a:solidFill>
            <a:srgbClr val="202028"/>
          </a:solidFill>
          <a:ln w="15875">
            <a:solidFill>
              <a:srgbClr val="FFD60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97180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63440" y="37947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즉시 전환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4663440" y="43434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주운 쿠폰은 매장 POS 코드로 바로 사용 → 오프라인 방문에 직결.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183880" y="2331720"/>
            <a:ext cx="3611880" cy="3200400"/>
          </a:xfrm>
          <a:prstGeom prst="roundRect">
            <a:avLst>
              <a:gd name="adj" fmla="val 3429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83880" y="2331720"/>
            <a:ext cx="3611880" cy="91440"/>
          </a:xfrm>
          <a:prstGeom prst="rect">
            <a:avLst/>
          </a:prstGeom>
          <a:solidFill>
            <a:srgbClr val="B8FF5C"/>
          </a:solidFill>
          <a:ln/>
        </p:spPr>
      </p:sp>
      <p:sp>
        <p:nvSpPr>
          <p:cNvPr id="19" name="Shape 15"/>
          <p:cNvSpPr/>
          <p:nvPr/>
        </p:nvSpPr>
        <p:spPr>
          <a:xfrm>
            <a:off x="8503920" y="2743200"/>
            <a:ext cx="868680" cy="868680"/>
          </a:xfrm>
          <a:prstGeom prst="ellipse">
            <a:avLst/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2971800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503920" y="37947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가능</a:t>
            </a:r>
            <a:endParaRPr lang="en-US" sz="2400" dirty="0"/>
          </a:p>
        </p:txBody>
      </p:sp>
      <p:sp>
        <p:nvSpPr>
          <p:cNvPr id="22" name="Text 17"/>
          <p:cNvSpPr/>
          <p:nvPr/>
        </p:nvSpPr>
        <p:spPr>
          <a:xfrm>
            <a:off x="8503920" y="43434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발송→픽업→노출→사용 퍼널을 브랜드 실시간 대시보드로 확인.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502920" y="576072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광고비를 “방문 · 사용”이라는 결과로 전환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발송 → 픽업 → 사용, 한 흐름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37360" y="2103120"/>
            <a:ext cx="822960" cy="822960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7" name="Text 5"/>
          <p:cNvSpPr/>
          <p:nvPr/>
        </p:nvSpPr>
        <p:spPr>
          <a:xfrm>
            <a:off x="17373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B0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3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3154680"/>
            <a:ext cx="731520" cy="731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4023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 발송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68580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쿠폰 발송 / 매장 zone 설정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(AI가 카피 자동 생성)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840480" y="33375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›</a:t>
            </a:r>
            <a:endParaRPr lang="en-US" sz="4000" dirty="0"/>
          </a:p>
        </p:txBody>
      </p:sp>
      <p:sp>
        <p:nvSpPr>
          <p:cNvPr id="12" name="Shape 9"/>
          <p:cNvSpPr/>
          <p:nvPr/>
        </p:nvSpPr>
        <p:spPr>
          <a:xfrm>
            <a:off x="4434840" y="251460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0" y="2103120"/>
            <a:ext cx="822960" cy="822960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B0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3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3154680"/>
            <a:ext cx="731520" cy="7315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17720" y="4023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 픽업</a:t>
            </a:r>
            <a:endParaRPr lang="en-US" sz="2100" dirty="0"/>
          </a:p>
        </p:txBody>
      </p:sp>
      <p:sp>
        <p:nvSpPr>
          <p:cNvPr id="17" name="Text 13"/>
          <p:cNvSpPr/>
          <p:nvPr/>
        </p:nvSpPr>
        <p:spPr>
          <a:xfrm>
            <a:off x="461772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지도에서 발견 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200m 안으로 걸어가 픽업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772400" y="33375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›</a:t>
            </a:r>
            <a:endParaRPr lang="en-US" sz="4000" dirty="0"/>
          </a:p>
        </p:txBody>
      </p:sp>
      <p:sp>
        <p:nvSpPr>
          <p:cNvPr id="19" name="Shape 15"/>
          <p:cNvSpPr/>
          <p:nvPr/>
        </p:nvSpPr>
        <p:spPr>
          <a:xfrm>
            <a:off x="8366760" y="251460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601200" y="2103120"/>
            <a:ext cx="822960" cy="822960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21" name="Text 17"/>
          <p:cNvSpPr/>
          <p:nvPr/>
        </p:nvSpPr>
        <p:spPr>
          <a:xfrm>
            <a:off x="960120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B0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30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3154680"/>
            <a:ext cx="731520" cy="73152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549640" y="4023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매장 사용</a:t>
            </a:r>
            <a:endParaRPr lang="en-US" sz="2100" dirty="0"/>
          </a:p>
        </p:txBody>
      </p:sp>
      <p:sp>
        <p:nvSpPr>
          <p:cNvPr id="24" name="Text 19"/>
          <p:cNvSpPr/>
          <p:nvPr/>
        </p:nvSpPr>
        <p:spPr>
          <a:xfrm>
            <a:off x="854964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코드 제시 → 사용 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 ROI에 집계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502920" y="580644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발송 → 픽업 → 사용까지 끊김 없는 단일 흐름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PRODUCT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양면 시장을 한 앱에서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5486400" cy="1627632"/>
          </a:xfrm>
          <a:prstGeom prst="roundRect">
            <a:avLst>
              <a:gd name="adj" fmla="val 6742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60604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807208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5786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 (헌터)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828800" y="2999232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지도 픽업 · 희귀 드롭 · 레벨/타워 성장 · 수집첩 · 팔로우/DM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2286000"/>
            <a:ext cx="5486400" cy="1627632"/>
          </a:xfrm>
          <a:prstGeom prst="roundRect">
            <a:avLst>
              <a:gd name="adj" fmla="val 6742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37960" y="260604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280720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43800" y="25786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7543800" y="2999232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매장 zone 자동 발송 · ExactDrop 정밀 투하 · 1캠페인=1코드 POS · ROI 퍼널 대시보드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02920" y="4142232"/>
            <a:ext cx="5486400" cy="1627632"/>
          </a:xfrm>
          <a:prstGeom prst="roundRect">
            <a:avLst>
              <a:gd name="adj" fmla="val 6742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4462272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202028"/>
          </a:solidFill>
          <a:ln w="15875">
            <a:solidFill>
              <a:srgbClr val="FFD60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466344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828800" y="4434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1828800" y="4855464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업종·설명 입력 → 쿠폰 카피·혜택 초안 자동 생성 (온보딩 마찰 제거)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6217920" y="4142232"/>
            <a:ext cx="5486400" cy="1627632"/>
          </a:xfrm>
          <a:prstGeom prst="roundRect">
            <a:avLst>
              <a:gd name="adj" fmla="val 6742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37960" y="4462272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4663440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43800" y="4434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글로벌</a:t>
            </a:r>
            <a:endParaRPr lang="en-US" sz="2000" dirty="0"/>
          </a:p>
        </p:txBody>
      </p:sp>
      <p:sp>
        <p:nvSpPr>
          <p:cNvPr id="24" name="Text 18"/>
          <p:cNvSpPr/>
          <p:nvPr/>
        </p:nvSpPr>
        <p:spPr>
          <a:xfrm>
            <a:off x="7543800" y="4855464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14개 언어(아랍어 RTL 포함) · 국가별 현지화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US / MOAT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검색하는 쿠폰이 아니라, </a:t>
            </a:r>
            <a:pPr algn="l" indent="0" marL="0">
              <a:buNone/>
            </a:pPr>
            <a:r>
              <a:rPr lang="en-US" sz="38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줍는 쿠폰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640080" cy="640080"/>
          </a:xfrm>
          <a:prstGeom prst="ellipse">
            <a:avLst/>
          </a:prstGeom>
          <a:solidFill>
            <a:srgbClr val="17171C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3957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2219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발견형 UX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417320" y="2569464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검색형 쿠폰앱과 다른 “줍는” 경험 → 높은 인게이지먼트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1417320" y="3108960"/>
            <a:ext cx="10149840" cy="0"/>
          </a:xfrm>
          <a:prstGeom prst="line">
            <a:avLst/>
          </a:prstGeom>
          <a:noFill/>
          <a:ln w="12700">
            <a:solidFill>
              <a:srgbClr val="2E2E3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3200400"/>
            <a:ext cx="640080" cy="640080"/>
          </a:xfrm>
          <a:prstGeom prst="ellipse">
            <a:avLst/>
          </a:prstGeom>
          <a:solidFill>
            <a:srgbClr val="17171C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335584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3182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전환 측정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1417320" y="3529584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픽업·사용 데이터로 “방문 단가” 광고 상품화 (전단지·배달광고가 못 하는 것)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1417320" y="4069080"/>
            <a:ext cx="10149840" cy="0"/>
          </a:xfrm>
          <a:prstGeom prst="line">
            <a:avLst/>
          </a:prstGeom>
          <a:noFill/>
          <a:ln w="12700">
            <a:solidFill>
              <a:srgbClr val="2E2E3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4160520"/>
            <a:ext cx="640080" cy="640080"/>
          </a:xfrm>
          <a:prstGeom prst="ellipse">
            <a:avLst/>
          </a:prstGeom>
          <a:solidFill>
            <a:srgbClr val="17171C"/>
          </a:solidFill>
          <a:ln w="15875">
            <a:solidFill>
              <a:srgbClr val="FFD60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3159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41422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온보딩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417320" y="4489704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매장이 30초 만에 캠페인 생성 → 공급(쿠폰) 확보 속도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1417320" y="5029200"/>
            <a:ext cx="10149840" cy="0"/>
          </a:xfrm>
          <a:prstGeom prst="line">
            <a:avLst/>
          </a:prstGeom>
          <a:noFill/>
          <a:ln w="12700">
            <a:solidFill>
              <a:srgbClr val="2E2E3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5120640"/>
            <a:ext cx="640080" cy="640080"/>
          </a:xfrm>
          <a:prstGeom prst="ellipse">
            <a:avLst/>
          </a:prstGeom>
          <a:solidFill>
            <a:srgbClr val="17171C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527608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51023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게이미피케이션 리텐션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1417320" y="5449824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레벨·희귀도·스트릭으로 재방문 동기 부여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502920" y="594360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데이터가 쌓일수록 추천·매칭 정확도 강화 — </a:t>
            </a:r>
            <a:pPr algn="ctr" indent="0" marL="0">
              <a:buNone/>
            </a:pPr>
            <a:r>
              <a:rPr lang="en-US" sz="14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네트워크 효과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MARKET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노출 광고 → </a:t>
            </a:r>
            <a:pPr algn="l" indent="0" marL="0">
              <a:buNone/>
            </a:pPr>
            <a:r>
              <a:rPr lang="en-US" sz="38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방문 광고</a:t>
            </a:r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로의 진입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4572000" cy="4572000"/>
          </a:xfrm>
          <a:prstGeom prst="ellipse">
            <a:avLst/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91640" y="2423160"/>
            <a:ext cx="3108960" cy="3108960"/>
          </a:xfrm>
          <a:prstGeom prst="ellipse">
            <a:avLst/>
          </a:prstGeom>
          <a:solidFill>
            <a:srgbClr val="202028"/>
          </a:solidFill>
          <a:ln w="12700">
            <a:solidFill>
              <a:srgbClr val="B8FF5C">
                <a:alpha val="6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0" y="3108960"/>
            <a:ext cx="1737360" cy="1737360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8" name="Text 6"/>
          <p:cNvSpPr/>
          <p:nvPr/>
        </p:nvSpPr>
        <p:spPr>
          <a:xfrm>
            <a:off x="2377440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6012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TAM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91640" y="2560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35040" y="2377440"/>
            <a:ext cx="5669280" cy="960120"/>
          </a:xfrm>
          <a:prstGeom prst="roundRect">
            <a:avLst>
              <a:gd name="adj" fmla="val 11429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252374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TAM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글로벌 디지털 로컬 광고 / 프로모션 시장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269480" y="294436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[규모 · 출처 채워넣기]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3474720"/>
            <a:ext cx="5669280" cy="960120"/>
          </a:xfrm>
          <a:prstGeom prst="roundRect">
            <a:avLst>
              <a:gd name="adj" fmla="val 11429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362102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SAM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269480" y="36118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위치기반 O2O 프로모션 · 관광 / 로컬 쿠폰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269480" y="40416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[규모 채워넣기]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4572000"/>
            <a:ext cx="5669280" cy="960120"/>
          </a:xfrm>
          <a:prstGeom prst="roundRect">
            <a:avLst>
              <a:gd name="adj" fmla="val 11429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7183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SOM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269480" y="4709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카페·외식·뷰티 소상공인 + 관광 상권 (초기)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269480" y="513892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[수치 채워넣기]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35040" y="58978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규모는 출처 있는 수치로 교체 예정 (현재 플레이스홀더)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양면 수익 : </a:t>
            </a:r>
            <a:pPr algn="l" indent="0" marL="0">
              <a:buNone/>
            </a:pPr>
            <a:r>
              <a:rPr lang="en-US" sz="38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구독 + 성과형 광고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3611880" cy="3063240"/>
          </a:xfrm>
          <a:prstGeom prst="roundRect">
            <a:avLst>
              <a:gd name="adj" fmla="val 3582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606040"/>
            <a:ext cx="731520" cy="731520"/>
          </a:xfrm>
          <a:prstGeom prst="ellipse">
            <a:avLst/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788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651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구독 (소비자)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6118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Premium: 픽업 반경 · 쿨다운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선호 카테고리 · DM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RevenueCat 결제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43400" y="2286000"/>
            <a:ext cx="3611880" cy="3063240"/>
          </a:xfrm>
          <a:prstGeom prst="roundRect">
            <a:avLst>
              <a:gd name="adj" fmla="val 3582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63440" y="2606040"/>
            <a:ext cx="731520" cy="731520"/>
          </a:xfrm>
          <a:prstGeom prst="ellipse">
            <a:avLst/>
          </a:prstGeom>
          <a:solidFill>
            <a:srgbClr val="202028"/>
          </a:solidFill>
          <a:ln w="15875">
            <a:solidFill>
              <a:srgbClr val="FFD60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7889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2651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 과금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709160" y="36118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ExactDrop 크레딧 (정밀 투하)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월 발송 쿼터 확장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캠페인 상품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183880" y="2286000"/>
            <a:ext cx="3611880" cy="3063240"/>
          </a:xfrm>
          <a:prstGeom prst="roundRect">
            <a:avLst>
              <a:gd name="adj" fmla="val 3582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503920" y="2606040"/>
            <a:ext cx="731520" cy="731520"/>
          </a:xfrm>
          <a:prstGeom prst="ellipse">
            <a:avLst/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788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326880" y="2651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확장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49640" y="36118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쿠폰 생성 프리미엄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/ 인사이트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관광청 · 프랜차이즈 제휴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502920" y="571500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결제 인프라(구독·크레딧) 구현 완료 — 정식 상품 등록 단계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출시 가능한 수준의 보안·결제·AI 파이프라인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5486400" cy="1627632"/>
          </a:xfrm>
          <a:prstGeom prst="roundRect">
            <a:avLst>
              <a:gd name="adj" fmla="val 6742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60604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807208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5786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 / 지도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828800" y="2999232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200m 반경 픽업 · 좌표 마스킹(프라이버시) · 시계 조작 방지(SecureClock)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17920" y="2286000"/>
            <a:ext cx="5486400" cy="1627632"/>
          </a:xfrm>
          <a:prstGeom prst="roundRect">
            <a:avLst>
              <a:gd name="adj" fmla="val 6742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37960" y="260604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280720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43800" y="25786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백엔드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543800" y="2999232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Firebase (Firestore · Cloud Functions · Auth) · RevenueCat 구독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02920" y="4142232"/>
            <a:ext cx="5486400" cy="1627632"/>
          </a:xfrm>
          <a:prstGeom prst="roundRect">
            <a:avLst>
              <a:gd name="adj" fmla="val 6742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4462272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202028"/>
          </a:solidFill>
          <a:ln w="15875">
            <a:solidFill>
              <a:srgbClr val="FFD60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466344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828800" y="4434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1828800" y="4855464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Google Gemini 2.5 Flash 쿠폰 카피 생성 (서버 시크릿 · rate-limit)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217920" y="4142232"/>
            <a:ext cx="5486400" cy="1627632"/>
          </a:xfrm>
          <a:prstGeom prst="roundRect">
            <a:avLst>
              <a:gd name="adj" fmla="val 6742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37960" y="4462272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4663440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43800" y="4434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신뢰 / 보안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543800" y="4855464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GDPR · 위치정보법 / 정보통신망법 동의 체계 · OTP · 차단 · 신고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TRACTION · 정직하게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 완성 → 시장 검증 단계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240280"/>
            <a:ext cx="3611880" cy="1783080"/>
          </a:xfrm>
          <a:prstGeom prst="roundRect">
            <a:avLst>
              <a:gd name="adj" fmla="val 6154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6888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424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95528" y="329184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TestFlight 베타 Build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(다수 시뮬레이션·QA 라운드)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2240280"/>
            <a:ext cx="3611880" cy="1783080"/>
          </a:xfrm>
          <a:prstGeom prst="roundRect">
            <a:avLst>
              <a:gd name="adj" fmla="val 6154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46888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636008" y="329184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지원 언어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(아랍어 RTL 포함)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83880" y="2240280"/>
            <a:ext cx="3611880" cy="1783080"/>
          </a:xfrm>
          <a:prstGeom prst="roundRect">
            <a:avLst>
              <a:gd name="adj" fmla="val 6154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58200" y="246888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476488" y="329184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결제·구독·AI·지도·브랜드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전 기능 동작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97680"/>
            <a:ext cx="6949440" cy="1783080"/>
          </a:xfrm>
          <a:prstGeom prst="roundRect">
            <a:avLst>
              <a:gd name="adj" fmla="val 6154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480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마일스톤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493776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정식 IAP 상품 등록</a:t>
            </a:r>
            <a:endParaRPr lang="en-US" sz="13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위치기반서비스 신고 · 앱스토어 심사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[파일럿 매장 N곳] 확보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635240" y="4297680"/>
            <a:ext cx="4069080" cy="1783080"/>
          </a:xfrm>
          <a:prstGeom prst="roundRect">
            <a:avLst>
              <a:gd name="adj" fmla="val 6154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4480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출시 후 수집 지표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863840" y="49377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[베타 테스터 수]</a:t>
            </a:r>
            <a:endParaRPr lang="en-US" sz="135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3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[파일럿 매장 수]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[픽업 / 사용 전환율]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02920" y="626364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실사용·매출 지표는 출시 후 — 위 [   ] 항목은 추정·목표로 표기 예정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밀도 → 양면 네트워크 효과 점화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331720"/>
            <a:ext cx="11201400" cy="1097280"/>
          </a:xfrm>
          <a:prstGeom prst="roundRect">
            <a:avLst>
              <a:gd name="adj" fmla="val 10000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578608"/>
            <a:ext cx="603504" cy="603504"/>
          </a:xfrm>
          <a:prstGeom prst="ellipse">
            <a:avLst/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1576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514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공급(매장) 먼저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663440" y="25146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카페·외식·뷰티 밀집 상권 1~2곳 집중 → 쿠폰 밀도 확보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34107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02920" y="3657600"/>
            <a:ext cx="11201400" cy="1097280"/>
          </a:xfrm>
          <a:prstGeom prst="roundRect">
            <a:avLst>
              <a:gd name="adj" fmla="val 10000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904488"/>
            <a:ext cx="603504" cy="603504"/>
          </a:xfrm>
          <a:prstGeom prst="ellipse">
            <a:avLst/>
          </a:prstGeom>
          <a:solidFill>
            <a:srgbClr val="202028"/>
          </a:solidFill>
          <a:ln w="15875">
            <a:solidFill>
              <a:srgbClr val="FFD60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04164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0020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수요(사용자)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4663440" y="38404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상권 내 픽업 밀도 → 입소문·지역 마케팅 → 게이미피케이션 리텐션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91440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02920" y="4983480"/>
            <a:ext cx="11201400" cy="1097280"/>
          </a:xfrm>
          <a:prstGeom prst="roundRect">
            <a:avLst>
              <a:gd name="adj" fmla="val 10000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77240" y="5230368"/>
            <a:ext cx="603504" cy="603504"/>
          </a:xfrm>
          <a:prstGeom prst="ellipse">
            <a:avLst/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5166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레버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4663440" y="516636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온보딩으로 매장 가입 마찰 최소화 · 관광 상권·프랜차이즈 제휴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 → 상권 → 도시 → </a:t>
            </a:r>
            <a:pPr algn="l" indent="0" marL="0">
              <a:buNone/>
            </a:pPr>
            <a:r>
              <a:rPr lang="en-US" sz="38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글로벌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914400" y="2788920"/>
            <a:ext cx="10332720" cy="0"/>
          </a:xfrm>
          <a:prstGeom prst="line">
            <a:avLst/>
          </a:prstGeom>
          <a:noFill/>
          <a:ln w="25400">
            <a:solidFill>
              <a:srgbClr val="2E2E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80844" y="2660904"/>
            <a:ext cx="256032" cy="256032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320040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4747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8587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정식 출시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914400" y="4480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IAP · 신고 · 심사</a:t>
            </a:r>
            <a:endParaRPr lang="en-US" sz="13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파일럿 상권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975604" y="2660904"/>
            <a:ext cx="256032" cy="256032"/>
          </a:xfrm>
          <a:prstGeom prst="ellipse">
            <a:avLst/>
          </a:prstGeom>
          <a:solidFill>
            <a:srgbClr val="FFD60A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400" y="320040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34747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3440" y="38587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고도화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4709160" y="4480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매장 셀프서비스 대시보드</a:t>
            </a:r>
            <a:endParaRPr lang="en-US" sz="13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추천 임베딩(개인화)</a:t>
            </a:r>
            <a:endParaRPr lang="en-US" sz="13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제휴 확장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770364" y="2660904"/>
            <a:ext cx="256032" cy="256032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8138160" y="320040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0" y="34747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12개월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58200" y="38587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확장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8503920" y="4480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 단위 확장</a:t>
            </a:r>
            <a:endParaRPr lang="en-US" sz="13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인사이트 상품</a:t>
            </a:r>
            <a:endParaRPr lang="en-US" sz="13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글로벌 관광 상권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3" name="Text 1"/>
          <p:cNvSpPr/>
          <p:nvPr/>
        </p:nvSpPr>
        <p:spPr>
          <a:xfrm>
            <a:off x="70408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TEAM · 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출시 직전, 자본은 </a:t>
            </a:r>
            <a:pPr algn="l" indent="0" marL="0">
              <a:buNone/>
            </a:pPr>
            <a:r>
              <a:rPr lang="en-US" sz="38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상권 점화</a:t>
            </a:r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560320"/>
            <a:ext cx="640080" cy="640080"/>
          </a:xfrm>
          <a:prstGeom prst="ellipse">
            <a:avLst/>
          </a:prstGeom>
          <a:solidFill>
            <a:srgbClr val="202028"/>
          </a:solidFill>
          <a:ln w="15875">
            <a:solidFill>
              <a:srgbClr val="B8FF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974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606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22960" y="35204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[대표 · 핵심 멤버]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[경력 한 줄씩 채워넣기]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[조직 구성 · 역할]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17920" y="228600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17171C"/>
          </a:solidFill>
          <a:ln w="12700">
            <a:solidFill>
              <a:srgbClr val="2E2E3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0" y="2286000"/>
            <a:ext cx="5486400" cy="91440"/>
          </a:xfrm>
          <a:prstGeom prst="rect">
            <a:avLst/>
          </a:prstGeom>
          <a:solidFill>
            <a:srgbClr val="FFD60A"/>
          </a:solidFill>
          <a:ln/>
        </p:spPr>
      </p:sp>
      <p:sp>
        <p:nvSpPr>
          <p:cNvPr id="12" name="Shape 9"/>
          <p:cNvSpPr/>
          <p:nvPr/>
        </p:nvSpPr>
        <p:spPr>
          <a:xfrm>
            <a:off x="6492240" y="2606040"/>
            <a:ext cx="640080" cy="640080"/>
          </a:xfrm>
          <a:prstGeom prst="ellipse">
            <a:avLst/>
          </a:prstGeom>
          <a:solidFill>
            <a:srgbClr val="202028"/>
          </a:solidFill>
          <a:ln w="15875">
            <a:solidFill>
              <a:srgbClr val="FFD60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276148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26517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D60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요청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6492240" y="33832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[투자 금액]</a:t>
            </a:r>
            <a:endParaRPr lang="en-US" sz="4000" dirty="0"/>
          </a:p>
        </p:txBody>
      </p:sp>
      <p:sp>
        <p:nvSpPr>
          <p:cNvPr id="16" name="Text 12"/>
          <p:cNvSpPr/>
          <p:nvPr/>
        </p:nvSpPr>
        <p:spPr>
          <a:xfrm>
            <a:off x="6537960" y="42519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 — [제품 · 영업 · 마케팅 비중]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CECE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[런웨이 N개월]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정부 지원사업(AI 바우처·TIPS) 매칭 가능성 [해당 시]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5029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0545775" y="6400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291840"/>
            <a:ext cx="7315200" cy="7315200"/>
          </a:xfrm>
          <a:prstGeom prst="ellipse">
            <a:avLst/>
          </a:prstGeom>
          <a:solidFill>
            <a:srgbClr val="B8FF5C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-2286000"/>
            <a:ext cx="6400800" cy="6400800"/>
          </a:xfrm>
          <a:prstGeom prst="ellipse">
            <a:avLst/>
          </a:prstGeom>
          <a:solidFill>
            <a:srgbClr val="FFD60A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051560"/>
            <a:ext cx="109728" cy="109728"/>
          </a:xfrm>
          <a:prstGeom prst="ellipse">
            <a:avLst/>
          </a:prstGeom>
          <a:solidFill>
            <a:srgbClr val="B8FF5C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VISION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동네를 걷는 모든 순간이,
</a:t>
            </a:r>
            <a:pPr algn="l"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혜택의 발견</a:t>
            </a:r>
            <a:pPr algn="l"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된다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58368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위치기반 발견형 커머스의 표준을 만든다 — 소비자에겐 재미, 매장엔 측정 가능한 방문.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0881360" cy="0"/>
          </a:xfrm>
          <a:prstGeom prst="line">
            <a:avLst/>
          </a:prstGeom>
          <a:noFill/>
          <a:ln w="12700">
            <a:solidFill>
              <a:srgbClr val="2E2E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257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Thiscount</a:t>
            </a:r>
            <a:pPr algn="l" indent="0" marL="0">
              <a:buNone/>
            </a:pPr>
            <a:r>
              <a:rPr lang="en-US" sz="1800" dirty="0">
                <a:solidFill>
                  <a:srgbClr val="B8FF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걷다 보면, 혜택이 떨어진다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0" y="52852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AA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[연락처 · 데모 링크 · QR]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Thiscount IR Pitch</dc:title>
  <dc:subject>PptxGenJS Presentation</dc:subject>
  <dc:creator>Thiscount</dc:creator>
  <cp:lastModifiedBy>Thiscount</cp:lastModifiedBy>
  <cp:revision>1</cp:revision>
  <dcterms:created xsi:type="dcterms:W3CDTF">2026-06-04T03:38:13Z</dcterms:created>
  <dcterms:modified xsi:type="dcterms:W3CDTF">2026-06-04T03:38:13Z</dcterms:modified>
</cp:coreProperties>
</file>